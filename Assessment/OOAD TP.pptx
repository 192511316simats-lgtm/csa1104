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60" r:id="rId5"/>
    <p:sldId id="261" r:id="rId6"/>
    <p:sldId id="262" r:id="rId7"/>
    <p:sldId id="266" r:id="rId8"/>
    <p:sldId id="267" r:id="rId9"/>
    <p:sldId id="268" r:id="rId10"/>
    <p:sldId id="269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80E76-1AE0-4B33-898E-C23D4C46F17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7FC52-193A-4DAC-8A2E-805CAA1C5FF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80E76-1AE0-4B33-898E-C23D4C46F17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7FC52-193A-4DAC-8A2E-805CAA1C5FF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80E76-1AE0-4B33-898E-C23D4C46F17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7FC52-193A-4DAC-8A2E-805CAA1C5FF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80E76-1AE0-4B33-898E-C23D4C46F17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7FC52-193A-4DAC-8A2E-805CAA1C5FF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80E76-1AE0-4B33-898E-C23D4C46F175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7FC52-193A-4DAC-8A2E-805CAA1C5FF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80E76-1AE0-4B33-898E-C23D4C46F175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7FC52-193A-4DAC-8A2E-805CAA1C5FF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80E76-1AE0-4B33-898E-C23D4C46F175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7FC52-193A-4DAC-8A2E-805CAA1C5FF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80E76-1AE0-4B33-898E-C23D4C46F17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7FC52-193A-4DAC-8A2E-805CAA1C5FF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80E76-1AE0-4B33-898E-C23D4C46F17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7FC52-193A-4DAC-8A2E-805CAA1C5FF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80E76-1AE0-4B33-898E-C23D4C46F17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7FC52-193A-4DAC-8A2E-805CAA1C5FF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80E76-1AE0-4B33-898E-C23D4C46F17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7FC52-193A-4DAC-8A2E-805CAA1C5FF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80E76-1AE0-4B33-898E-C23D4C46F17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7FC52-193A-4DAC-8A2E-805CAA1C5FF7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1.png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3657" y="130629"/>
            <a:ext cx="11560629" cy="10885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9486" y="1752601"/>
            <a:ext cx="1156062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500" b="1" dirty="0">
                <a:latin typeface="Times" panose="02020603050405020304" pitchFamily="18" charset="0"/>
                <a:cs typeface="Times" panose="02020603050405020304" pitchFamily="18" charset="0"/>
              </a:rPr>
              <a:t>OBJECT-ORIENTED DESIGN IN SMART HEALTHCARE SYSTEMS</a:t>
            </a:r>
            <a:endParaRPr lang="en-IN" sz="25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endParaRPr lang="en-IN" sz="25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endParaRPr lang="en-IN" sz="25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r>
              <a:rPr lang="en-IN" sz="2500" b="1" dirty="0">
                <a:latin typeface="Times" panose="02020603050405020304" pitchFamily="18" charset="0"/>
                <a:cs typeface="Times" panose="02020603050405020304" pitchFamily="18" charset="0"/>
              </a:rPr>
              <a:t>CSA1104-OBJECT ORIENTED ANALYSIS AND DESIGN</a:t>
            </a:r>
            <a:endParaRPr lang="en-IN" sz="25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91943" y="5213336"/>
            <a:ext cx="53557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i="0" dirty="0">
                <a:solidFill>
                  <a:srgbClr val="1F1F1F"/>
                </a:solidFill>
                <a:effectLst/>
                <a:latin typeface="Times New Roman" panose="02020503050405090304" charset="0"/>
                <a:cs typeface="Times New Roman" panose="02020503050405090304" charset="0"/>
              </a:rPr>
              <a:t>FACULTY</a:t>
            </a:r>
            <a:r>
              <a:rPr lang="en-IN" sz="2000" b="1" dirty="0">
                <a:solidFill>
                  <a:srgbClr val="1F1F1F"/>
                </a:solidFill>
                <a:latin typeface="Times New Roman" panose="02020503050405090304" charset="0"/>
                <a:cs typeface="Times New Roman" panose="02020503050405090304" charset="0"/>
              </a:rPr>
              <a:t>: Dr. A Gayathri</a:t>
            </a:r>
            <a:endParaRPr lang="en-IN" sz="2000" b="1" dirty="0">
              <a:solidFill>
                <a:srgbClr val="1F1F1F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algn="ctr"/>
            <a:r>
              <a:rPr lang="en-IN" sz="2000" b="1" dirty="0">
                <a:solidFill>
                  <a:srgbClr val="1F1F1F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endParaRPr lang="en-IN" sz="2000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43247" y="5213573"/>
            <a:ext cx="619397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imes New Roman" panose="02020503050405090304" charset="0"/>
                <a:cs typeface="Times New Roman" panose="02020503050405090304" charset="0"/>
              </a:rPr>
              <a:t>BY: K.Divya</a:t>
            </a:r>
            <a:endParaRPr lang="en-US" altLang="en-US" sz="2000" b="1" dirty="0">
              <a:latin typeface="Times New Roman" panose="02020503050405090304" charset="0"/>
              <a:cs typeface="Times New Roman" panose="0202050305040509030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imes New Roman" panose="02020503050405090304" charset="0"/>
                <a:cs typeface="Times New Roman" panose="02020503050405090304" charset="0"/>
              </a:rPr>
              <a:t>192511316</a:t>
            </a:r>
            <a:endParaRPr lang="en-US" altLang="en-US" sz="2000" b="1" dirty="0">
              <a:latin typeface="Times New Roman" panose="02020503050405090304" charset="0"/>
              <a:cs typeface="Times New Roman" panose="0202050305040509030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000" b="1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1.png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3657" y="130629"/>
            <a:ext cx="11560629" cy="10885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79372" y="1622363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Times New Roman" panose="02020503050405090304" charset="0"/>
                <a:cs typeface="Times New Roman" panose="02020503050405090304" charset="0"/>
              </a:rPr>
              <a:t>INTRODUCTION</a:t>
            </a:r>
            <a:endParaRPr lang="en-IN" sz="4000" b="1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7830" y="2427512"/>
            <a:ext cx="10613570" cy="1883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" panose="02020603050405020304" pitchFamily="18" charset="0"/>
                <a:cs typeface="Times" panose="02020603050405020304" pitchFamily="18" charset="0"/>
              </a:rPr>
              <a:t>What is Object-Oriented Design (OOD)?</a:t>
            </a:r>
            <a:endParaRPr lang="en-IN" sz="20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OOD is a software design approach based on </a:t>
            </a:r>
            <a:r>
              <a:rPr lang="en-IN" sz="2000" b="1" dirty="0">
                <a:latin typeface="Times" panose="02020603050405020304" pitchFamily="18" charset="0"/>
                <a:cs typeface="Times" panose="02020603050405020304" pitchFamily="18" charset="0"/>
              </a:rPr>
              <a:t>objects and classes</a:t>
            </a:r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. </a:t>
            </a:r>
            <a:endParaRPr lang="en-IN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It Smart Healthcare Systems use OOD to organize patient, doctor, and medical information efficiently. </a:t>
            </a:r>
            <a:endParaRPr lang="en-IN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It improves software quality, maintenance, and scalability.</a:t>
            </a:r>
            <a:endParaRPr lang="en-IN"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7830" y="4466195"/>
            <a:ext cx="652054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000" b="1" dirty="0">
                <a:latin typeface="Times New Roman" panose="02020503050405090304" charset="0"/>
                <a:cs typeface="Times New Roman" panose="02020503050405090304" charset="0"/>
              </a:rPr>
              <a:t>Key Technologies</a:t>
            </a:r>
            <a:endParaRPr lang="en-IN" sz="3000" b="1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Class Object Encapsulation </a:t>
            </a:r>
            <a:endParaRPr lang="en-IN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Inheritance Polymorphism</a:t>
            </a:r>
            <a:endParaRPr lang="en-IN" sz="20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1.png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3657" y="130629"/>
            <a:ext cx="11560629" cy="10885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777343" y="1295792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Times New Roman" panose="02020503050405090304" charset="0"/>
                <a:cs typeface="Times New Roman" panose="02020503050405090304" charset="0"/>
              </a:rPr>
              <a:t>PROBLEM STATEMENT</a:t>
            </a:r>
            <a:endParaRPr lang="en-IN" sz="4000" b="1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057" y="2557866"/>
            <a:ext cx="11059886" cy="2908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IN" sz="2500" dirty="0">
                <a:latin typeface="Times" panose="02020603050405020304" pitchFamily="18" charset="0"/>
                <a:cs typeface="Times" panose="02020603050405020304" pitchFamily="18" charset="0"/>
              </a:rPr>
              <a:t>Manual and fragmented healthcare systems reduce efficiency. </a:t>
            </a:r>
            <a:endParaRPr lang="en-IN" sz="25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IN" sz="2500" dirty="0">
                <a:latin typeface="Times" panose="02020603050405020304" pitchFamily="18" charset="0"/>
                <a:cs typeface="Times" panose="02020603050405020304" pitchFamily="18" charset="0"/>
              </a:rPr>
              <a:t>Difficult to manage patients, doctors, appointments, and medical records. </a:t>
            </a:r>
            <a:endParaRPr lang="en-IN" sz="25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IN" sz="2500" dirty="0">
                <a:latin typeface="Times" panose="02020603050405020304" pitchFamily="18" charset="0"/>
                <a:cs typeface="Times" panose="02020603050405020304" pitchFamily="18" charset="0"/>
              </a:rPr>
              <a:t>Poor scalability and software maintenance.</a:t>
            </a:r>
            <a:endParaRPr lang="en-IN" sz="25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IN" sz="2500" dirty="0">
                <a:latin typeface="Times" panose="02020603050405020304" pitchFamily="18" charset="0"/>
                <a:cs typeface="Times" panose="02020603050405020304" pitchFamily="18" charset="0"/>
              </a:rPr>
              <a:t> Need a modular, reusable, and secure Object-Oriented Design for smart healthcare systems.</a:t>
            </a:r>
            <a:endParaRPr lang="en-IN" sz="25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1.png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3657" y="130629"/>
            <a:ext cx="11560629" cy="10885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3657" y="2318658"/>
            <a:ext cx="1022168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90204" pitchFamily="34" charset="0"/>
              <a:buChar char="•"/>
            </a:pPr>
            <a:r>
              <a:rPr lang="en-IN" sz="2800" dirty="0">
                <a:latin typeface="Times" panose="02020603050405020304" pitchFamily="18" charset="0"/>
                <a:cs typeface="Times" panose="02020603050405020304" pitchFamily="18" charset="0"/>
              </a:rPr>
              <a:t>Design a </a:t>
            </a:r>
            <a:r>
              <a:rPr lang="en-IN" sz="2800" b="1" dirty="0">
                <a:latin typeface="Times" panose="02020603050405020304" pitchFamily="18" charset="0"/>
                <a:cs typeface="Times" panose="02020603050405020304" pitchFamily="18" charset="0"/>
              </a:rPr>
              <a:t>Smart Healthcare System</a:t>
            </a:r>
            <a:r>
              <a:rPr lang="en-IN" sz="2800" dirty="0">
                <a:latin typeface="Times" panose="02020603050405020304" pitchFamily="18" charset="0"/>
                <a:cs typeface="Times" panose="02020603050405020304" pitchFamily="18" charset="0"/>
              </a:rPr>
              <a:t> using Object-Oriented Design (OOD) principles. </a:t>
            </a:r>
            <a:endParaRPr lang="en-IN" sz="28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lang="en-IN" sz="2800" dirty="0">
                <a:latin typeface="Times" panose="02020603050405020304" pitchFamily="18" charset="0"/>
                <a:cs typeface="Times" panose="02020603050405020304" pitchFamily="18" charset="0"/>
              </a:rPr>
              <a:t>Model real-world healthcare entities such as </a:t>
            </a:r>
            <a:r>
              <a:rPr lang="en-IN" sz="2800" b="1" dirty="0">
                <a:latin typeface="Times" panose="02020603050405020304" pitchFamily="18" charset="0"/>
                <a:cs typeface="Times" panose="02020603050405020304" pitchFamily="18" charset="0"/>
              </a:rPr>
              <a:t>Patient, Doctor, Appointment, and Medical Record</a:t>
            </a:r>
            <a:r>
              <a:rPr lang="en-IN" sz="2800" dirty="0">
                <a:latin typeface="Times" panose="02020603050405020304" pitchFamily="18" charset="0"/>
                <a:cs typeface="Times" panose="02020603050405020304" pitchFamily="18" charset="0"/>
              </a:rPr>
              <a:t> as objects and classes.</a:t>
            </a:r>
            <a:endParaRPr lang="en-IN" sz="28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lang="en-IN" sz="2800" dirty="0">
                <a:latin typeface="Times" panose="02020603050405020304" pitchFamily="18" charset="0"/>
                <a:cs typeface="Times" panose="02020603050405020304" pitchFamily="18" charset="0"/>
              </a:rPr>
              <a:t> Improve </a:t>
            </a:r>
            <a:r>
              <a:rPr lang="en-IN" sz="2800" b="1" dirty="0">
                <a:latin typeface="Times" panose="02020603050405020304" pitchFamily="18" charset="0"/>
                <a:cs typeface="Times" panose="02020603050405020304" pitchFamily="18" charset="0"/>
              </a:rPr>
              <a:t>software modularity, reusability, and maintainability</a:t>
            </a:r>
            <a:r>
              <a:rPr lang="en-IN" sz="2800" dirty="0">
                <a:latin typeface="Times" panose="02020603050405020304" pitchFamily="18" charset="0"/>
                <a:cs typeface="Times" panose="02020603050405020304" pitchFamily="18" charset="0"/>
              </a:rPr>
              <a:t> through object-oriented concepts. </a:t>
            </a:r>
            <a:endParaRPr lang="en-IN" sz="28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lang="en-IN" sz="2800" dirty="0">
                <a:latin typeface="Times" panose="02020603050405020304" pitchFamily="18" charset="0"/>
                <a:cs typeface="Times" panose="02020603050405020304" pitchFamily="18" charset="0"/>
              </a:rPr>
              <a:t>Ensure </a:t>
            </a:r>
            <a:r>
              <a:rPr lang="en-IN" sz="2800" b="1" dirty="0">
                <a:latin typeface="Times" panose="02020603050405020304" pitchFamily="18" charset="0"/>
                <a:cs typeface="Times" panose="02020603050405020304" pitchFamily="18" charset="0"/>
              </a:rPr>
              <a:t>secure and efficient management</a:t>
            </a:r>
            <a:r>
              <a:rPr lang="en-IN" sz="2800" dirty="0">
                <a:latin typeface="Times" panose="02020603050405020304" pitchFamily="18" charset="0"/>
                <a:cs typeface="Times" panose="02020603050405020304" pitchFamily="18" charset="0"/>
              </a:rPr>
              <a:t> of patient information using encapsulation. </a:t>
            </a:r>
            <a:endParaRPr lang="en-IN" sz="25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47457" y="1414986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Times New Roman" panose="02020503050405090304" charset="0"/>
                <a:cs typeface="Times New Roman" panose="02020503050405090304" charset="0"/>
              </a:rPr>
              <a:t>OBJECTIVES</a:t>
            </a:r>
            <a:endParaRPr lang="en-IN" sz="4000" b="1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233057" y="207220"/>
            <a:ext cx="79356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Times New Roman" panose="02020503050405090304" charset="0"/>
                <a:cs typeface="Times New Roman" panose="02020503050405090304" charset="0"/>
              </a:rPr>
              <a:t>SYSTEM</a:t>
            </a:r>
            <a:r>
              <a:rPr lang="en-IN" sz="400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IN" sz="4000" b="1" dirty="0">
                <a:latin typeface="Times New Roman" panose="02020503050405090304" charset="0"/>
                <a:cs typeface="Times New Roman" panose="02020503050405090304" charset="0"/>
              </a:rPr>
              <a:t>ARCHITECTURE</a:t>
            </a:r>
            <a:endParaRPr lang="en-IN" sz="4000" b="1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6886" y="1436915"/>
            <a:ext cx="7848600" cy="46046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22514" y="2632428"/>
          <a:ext cx="10716986" cy="3091144"/>
        </p:xfrm>
        <a:graphic>
          <a:graphicData uri="http://schemas.openxmlformats.org/drawingml/2006/table">
            <a:tbl>
              <a:tblPr/>
              <a:tblGrid>
                <a:gridCol w="5358493"/>
                <a:gridCol w="5358493"/>
              </a:tblGrid>
              <a:tr h="4415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Class</a:t>
                      </a:r>
                      <a:endParaRPr lang="en-IN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Responsibility</a:t>
                      </a:r>
                      <a:endParaRPr lang="en-IN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15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Patient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Stores patient details and medical history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15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Doctor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Manages diagnosis and treatment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15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Appointment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Schedules patient visits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15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Medical Record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Maintains health records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15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Sensor Device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Collects real-time health data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15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Alert System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Sends emergency notifications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5" name="image1.png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3657" y="130629"/>
            <a:ext cx="11560629" cy="10885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3900" y="1687287"/>
            <a:ext cx="1134835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500" b="1" dirty="0">
                <a:latin typeface="Times" panose="02020603050405020304" pitchFamily="18" charset="0"/>
                <a:cs typeface="Times" panose="02020603050405020304" pitchFamily="18" charset="0"/>
              </a:rPr>
              <a:t>OOD COMPONENTS IN SMART HEALTHCARE MAIN CLASSES</a:t>
            </a:r>
            <a:endParaRPr lang="en-IN" sz="25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13657" y="2632427"/>
          <a:ext cx="9437914" cy="30911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18957"/>
                <a:gridCol w="4718957"/>
              </a:tblGrid>
              <a:tr h="44159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44159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44159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44159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44159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44159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44159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1114" y="1850571"/>
            <a:ext cx="10602686" cy="43263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ADVANTAGES</a:t>
            </a:r>
            <a:endParaRPr lang="en-IN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Improved patient management </a:t>
            </a:r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Easy maintenance </a:t>
            </a:r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Modular design </a:t>
            </a:r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Secure data handling </a:t>
            </a:r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Reusable software components </a:t>
            </a:r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Scalable healthcare systems</a:t>
            </a:r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image1.png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3657" y="130629"/>
            <a:ext cx="11560629" cy="10885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3629" y="214131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Applications</a:t>
            </a:r>
            <a:endParaRPr lang="en-IN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Hospital Management Systems </a:t>
            </a:r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Telemedicine </a:t>
            </a:r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Electronic Health Records (EHR) </a:t>
            </a:r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Remote Patient Monitoring </a:t>
            </a:r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Health Monitoring Wearables</a:t>
            </a:r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0" indent="0">
              <a:buNone/>
            </a:pPr>
            <a:endParaRPr lang="en-IN" b="1" dirty="0"/>
          </a:p>
        </p:txBody>
      </p:sp>
      <p:pic>
        <p:nvPicPr>
          <p:cNvPr id="5" name="image1.png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3657" y="130629"/>
            <a:ext cx="11560629" cy="10885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CONCLUSION:</a:t>
            </a:r>
            <a:endParaRPr lang="en-US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Object-Oriented Design provides a structured way to develop healthcare software. </a:t>
            </a:r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It improves reliability, flexibility, and maintainability. </a:t>
            </a:r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Smart Healthcare Systems become more efficient with reusable and secure object-oriented components. </a:t>
            </a:r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OOD supports future technologies such as AI, IoT, and cloud-based healthcare. </a:t>
            </a:r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0" indent="0">
              <a:buNone/>
            </a:pPr>
            <a:endParaRPr lang="en-IN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5" name="image1.png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3657" y="130629"/>
            <a:ext cx="11560629" cy="10885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sz="9600">
                <a:latin typeface="Apple Chancery" panose="03020702040506060504" charset="0"/>
                <a:cs typeface="Apple Chancery" panose="03020702040506060504" charset="0"/>
              </a:rPr>
              <a:t>      Thank </a:t>
            </a:r>
            <a:endParaRPr lang="en-US" sz="9600">
              <a:latin typeface="Apple Chancery" panose="03020702040506060504" charset="0"/>
              <a:cs typeface="Apple Chancery" panose="03020702040506060504" charset="0"/>
            </a:endParaRPr>
          </a:p>
          <a:p>
            <a:pPr marL="0" indent="0">
              <a:buNone/>
            </a:pPr>
            <a:r>
              <a:rPr lang="en-US" sz="9600">
                <a:latin typeface="Apple Chancery" panose="03020702040506060504" charset="0"/>
                <a:cs typeface="Apple Chancery" panose="03020702040506060504" charset="0"/>
              </a:rPr>
              <a:t>               you✨</a:t>
            </a:r>
            <a:endParaRPr lang="en-US" sz="9600">
              <a:latin typeface="Apple Chancery" panose="03020702040506060504" charset="0"/>
              <a:cs typeface="Apple Chancery" panose="030207020405060605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2121</Words>
  <Application>WPS Docs</Application>
  <PresentationFormat>Widescreen</PresentationFormat>
  <Paragraphs>96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SimSun</vt:lpstr>
      <vt:lpstr>Wingdings</vt:lpstr>
      <vt:lpstr>Times</vt:lpstr>
      <vt:lpstr>Times New Roman</vt:lpstr>
      <vt:lpstr>Microsoft YaHei</vt:lpstr>
      <vt:lpstr>汉仪旗黑</vt:lpstr>
      <vt:lpstr>Arial Unicode MS</vt:lpstr>
      <vt:lpstr>Calibri Light</vt:lpstr>
      <vt:lpstr>Helvetica Neue</vt:lpstr>
      <vt:lpstr>Calibri</vt:lpstr>
      <vt:lpstr>宋体-简</vt:lpstr>
      <vt:lpstr>Apple Chancery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Harshitha G S</dc:creator>
  <cp:lastModifiedBy>DIVYA K</cp:lastModifiedBy>
  <cp:revision>3</cp:revision>
  <dcterms:created xsi:type="dcterms:W3CDTF">2026-07-27T04:54:09Z</dcterms:created>
  <dcterms:modified xsi:type="dcterms:W3CDTF">2026-07-27T04:54:09Z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2EA3B392E03E2D8871E4666A2A2A9E6F_43</vt:lpwstr>
  </property>
  <property fmtid="{D5CDD505-2E9C-101B-9397-08002B2CF9AE}" pid="3" name="KSOProductBuildVer">
    <vt:lpwstr>1033-12.1.26015.26015</vt:lpwstr>
  </property>
</Properties>
</file>